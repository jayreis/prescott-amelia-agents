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5C"/>
                </a:solidFill>
                <a:latin typeface="Outfit"/>
              </a:rPr>
              <a:t>EXAMPLE BRAND 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ormorant Garamond"/>
              </a:rPr>
              <a:t>Email &amp; Retention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B849A"/>
                </a:solidFill>
                <a:latin typeface="Outfit"/>
              </a:rPr>
              <a:t>A complimentary lifecycle marketing review — flows, cadence, and quick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7F40"/>
                </a:solidFill>
                <a:latin typeface="Outfit"/>
              </a:rPr>
              <a:t>Prepared by Jason A. Reis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5C"/>
                </a:solidFill>
                <a:latin typeface="Outfit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rmorant Garamond"/>
              </a:rPr>
              <a:t>The State of Example Brand Co.'s Email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651760" cy="1463040"/>
          </a:xfrm>
          <a:prstGeom prst="rect">
            <a:avLst/>
          </a:prstGeom>
          <a:solidFill>
            <a:srgbClr val="B5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rmorant Garamon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utfit"/>
              </a:rPr>
              <a:t>of 7 Core Flows Detected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88720"/>
            <a:ext cx="2651760" cy="1463040"/>
          </a:xfrm>
          <a:prstGeom prst="rect">
            <a:avLst/>
          </a:prstGeom>
          <a:solidFill>
            <a:srgbClr val="B5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325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rmorant Garamond"/>
              </a:rPr>
              <a:t>Confirmation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utfit"/>
              </a:rPr>
              <a:t>Welcome Series Depth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9B7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25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rmorant Garamond"/>
              </a:rPr>
              <a:t>48hr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utfit"/>
              </a:rPr>
              <a:t>Time to First Cart 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188720"/>
            <a:ext cx="2651760" cy="1463040"/>
          </a:xfrm>
          <a:prstGeom prst="rect">
            <a:avLst/>
          </a:prstGeom>
          <a:solidFill>
            <a:srgbClr val="5C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32588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ormorant Garamon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965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Outfit"/>
              </a:rPr>
              <a:t>Campaign Emails in 14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34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Outfit"/>
              </a:rPr>
              <a:t>KEY FINDINGS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54680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27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091A"/>
                </a:solidFill>
                <a:latin typeface="Outfit"/>
              </a:rPr>
              <a:t>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209544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utfit"/>
              </a:rPr>
              <a:t>No welcome series beyond the signup confirmation — the highest-ROI automation in ecommerce is going unused.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04488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091A"/>
                </a:solidFill>
                <a:latin typeface="Outfit"/>
              </a:rPr>
              <a:t>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959352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utfit"/>
              </a:rPr>
              <a:t>Browse abandonment is not set up — no email received after visiting product pages without adding to cart.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54296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091A"/>
                </a:solidFill>
                <a:latin typeface="Outfit"/>
              </a:rPr>
              <a:t>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709159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utfit"/>
              </a:rPr>
              <a:t>Cart abandon discount escalates from 10% to 20% across the sequence, which tends to train customers to wait for the bigger offer instead of buying at full price.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04104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B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772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091A"/>
                </a:solidFill>
                <a:latin typeface="Outfit"/>
              </a:rPr>
              <a:t>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458968"/>
            <a:ext cx="9235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Outfit"/>
              </a:rPr>
              <a:t>Campaign cadence is consistent (3 sends/14 days) and reasonably varied — a solid foundation to build flows on top 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5C"/>
                </a:solidFill>
                <a:latin typeface="Outfit"/>
              </a:rPr>
              <a:t>FLOW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ormorant Garamond"/>
              </a:rPr>
              <a:t>Core Lifecycle Flows — What's There, What's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669280" cy="109728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554480" cy="109728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Partial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91A"/>
                </a:solidFill>
                <a:latin typeface="Cormorant Garamond"/>
              </a:rPr>
              <a:t>Welcome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002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1 confirmation email only. No brand story, education, or purchase-incentive follow-up detected over 10 days.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5669280" cy="109728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377440"/>
            <a:ext cx="1554480" cy="1097280"/>
          </a:xfrm>
          <a:prstGeom prst="rect">
            <a:avLst/>
          </a:prstGeom>
          <a:solidFill>
            <a:srgbClr val="B5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7432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Not 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91A"/>
                </a:solidFill>
                <a:latin typeface="Cormorant Garamond"/>
              </a:rPr>
              <a:t>Abandoned Browse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8346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No email after browsing 3 product pages and leaving without adding to cart.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11880"/>
            <a:ext cx="5669280" cy="109728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611880"/>
            <a:ext cx="1554480" cy="1097280"/>
          </a:xfrm>
          <a:prstGeom prst="rect">
            <a:avLst/>
          </a:prstGeom>
          <a:solidFill>
            <a:srgbClr val="5C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977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91A"/>
                </a:solidFill>
                <a:latin typeface="Cormorant Garamond"/>
              </a:rPr>
              <a:t>Abandoned Cart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690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3-email sequence over 5 days. Discount escalates 10% to 20% — worth revisiting.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846320"/>
            <a:ext cx="5669280" cy="109728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846320"/>
            <a:ext cx="1554480" cy="1097280"/>
          </a:xfrm>
          <a:prstGeom prst="rect">
            <a:avLst/>
          </a:prstGeom>
          <a:solidFill>
            <a:srgbClr val="B5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52120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Not Distinct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937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91A"/>
                </a:solidFill>
                <a:latin typeface="Cormorant Garamond"/>
              </a:rPr>
              <a:t>Abandoned Checkout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035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Same sequence as cart abandon — no dedicated checkout-stage messaging.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143000"/>
            <a:ext cx="5669280" cy="109728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143000"/>
            <a:ext cx="1554480" cy="1097280"/>
          </a:xfrm>
          <a:prstGeom prst="rect">
            <a:avLst/>
          </a:prstGeom>
          <a:solidFill>
            <a:srgbClr val="B54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508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Not Detected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91A"/>
                </a:solidFill>
                <a:latin typeface="Cormorant Garamond"/>
              </a:rPr>
              <a:t>Post-Purchase /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16002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No thank-you or review-request email after a completed order.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377440"/>
            <a:ext cx="5669280" cy="109728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377440"/>
            <a:ext cx="1554480" cy="1097280"/>
          </a:xfrm>
          <a:prstGeom prst="rect">
            <a:avLst/>
          </a:prstGeom>
          <a:solidFill>
            <a:srgbClr val="7B8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7432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Unknown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91A"/>
                </a:solidFill>
                <a:latin typeface="Cormorant Garamond"/>
              </a:rPr>
              <a:t>Replenishment/Reorder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8346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Consumable product category — worth confirming if a reorder flow exists (needs longer observation window).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611880"/>
            <a:ext cx="5669280" cy="1097280"/>
          </a:xfrm>
          <a:prstGeom prst="rect">
            <a:avLst/>
          </a:prstGeom>
          <a:solidFill>
            <a:srgbClr val="F6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611880"/>
            <a:ext cx="1554480" cy="1097280"/>
          </a:xfrm>
          <a:prstGeom prst="rect">
            <a:avLst/>
          </a:prstGeom>
          <a:solidFill>
            <a:srgbClr val="7B8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977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utfit"/>
              </a:rPr>
              <a:t>Unknown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3703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091A"/>
                </a:solidFill>
                <a:latin typeface="Cormorant Garamond"/>
              </a:rPr>
              <a:t>Winback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406908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Requires 60-90+ days of inactivity to observe — flagged as unconfirmed, not absent.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9B7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091A"/>
                </a:solidFill>
                <a:latin typeface="Outfit"/>
              </a:rPr>
              <a:t>DEEP DIVE — WELCOME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ormorant Garamond"/>
              </a:rPr>
              <a:t>Highest-ROI Flow, Currently Underbuilt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7F40"/>
                </a:solidFill>
                <a:latin typeface="Outfit"/>
              </a:rPr>
              <a:t>WHAT I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Outfit"/>
              </a:rPr>
              <a:t>Single confirmation email sent immediately on signup. No follow-up over the next 10 days. No brand introduction, no product education, no first-purchase incentive.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577840" cy="2468880"/>
          </a:xfrm>
          <a:prstGeom prst="rect">
            <a:avLst/>
          </a:prstGeom>
          <a:solidFill>
            <a:srgbClr val="05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5C"/>
                </a:solidFill>
                <a:latin typeface="Outfit"/>
              </a:rPr>
              <a:t>INDUSTRY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5C"/>
                </a:solidFill>
                <a:latin typeface="Cormorant Garamond"/>
              </a:rPr>
              <a:t>51%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4C9"/>
                </a:solidFill>
                <a:latin typeface="Outfit"/>
              </a:rPr>
              <a:t>Average open rate on welcome email #1 (industry benchmark)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5C"/>
                </a:solidFill>
                <a:latin typeface="Cormorant Garamond"/>
              </a:rPr>
              <a:t>3x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23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4C9"/>
                </a:solidFill>
                <a:latin typeface="Outfit"/>
              </a:rPr>
              <a:t>Higher revenue per email vs. standard campaigns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5C"/>
                </a:solidFill>
                <a:latin typeface="Cormorant Garamond"/>
              </a:rPr>
              <a:t>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4C9"/>
                </a:solidFill>
                <a:latin typeface="Outfit"/>
              </a:rPr>
              <a:t>Emails recommended over 5-10 days per Lifecycle Revenue Playbook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03320"/>
            <a:ext cx="5577840" cy="278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7F40"/>
                </a:solidFill>
                <a:latin typeface="Outfit"/>
              </a:rPr>
              <a:t>RECOMMENDED SEQUENCE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206240"/>
            <a:ext cx="640080" cy="384048"/>
          </a:xfrm>
          <a:prstGeom prst="rect">
            <a:avLst/>
          </a:prstGeom>
          <a:solidFill>
            <a:srgbClr val="05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5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Email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25195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7F40"/>
                </a:solidFill>
                <a:latin typeface="Outfit"/>
              </a:rPr>
              <a:t>Immediately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51959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Brand welcome + hero product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736592"/>
            <a:ext cx="640080" cy="384048"/>
          </a:xfrm>
          <a:prstGeom prst="rect">
            <a:avLst/>
          </a:prstGeom>
          <a:solidFill>
            <a:srgbClr val="05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7823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Email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7823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7F40"/>
                </a:solidFill>
                <a:latin typeface="Outfit"/>
              </a:rPr>
              <a:t>Day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8231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Product education + social proof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266944"/>
            <a:ext cx="640080" cy="384048"/>
          </a:xfrm>
          <a:prstGeom prst="rect">
            <a:avLst/>
          </a:prstGeom>
          <a:solidFill>
            <a:srgbClr val="05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31266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Email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1266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7F40"/>
                </a:solidFill>
                <a:latin typeface="Outfit"/>
              </a:rPr>
              <a:t>Day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31266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First purchase incentive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797296"/>
            <a:ext cx="640080" cy="384048"/>
          </a:xfrm>
          <a:prstGeom prst="rect">
            <a:avLst/>
          </a:prstGeom>
          <a:solidFill>
            <a:srgbClr val="05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84301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Outfit"/>
              </a:rPr>
              <a:t>Email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8430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7F40"/>
                </a:solidFill>
                <a:latin typeface="Outfit"/>
              </a:rPr>
              <a:t>Day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8430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Outfit"/>
              </a:rPr>
              <a:t>Category explore / bestsellers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B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5C"/>
                </a:solidFill>
                <a:latin typeface="Outfit"/>
              </a:rPr>
              <a:t>OPPORTUNITY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ormorant Garamond"/>
              </a:rPr>
              <a:t>Where the Upside Is — Illustrative, Not a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1463040"/>
          </a:xfrm>
          <a:prstGeom prst="rect">
            <a:avLst/>
          </a:prstGeom>
          <a:solidFill>
            <a:srgbClr val="10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73152" cy="14630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5C"/>
                </a:solidFill>
                <a:latin typeface="Outfit"/>
              </a:rPr>
              <a:t>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D4C9"/>
                </a:solidFill>
                <a:latin typeface="Outfit"/>
              </a:rPr>
              <a:t>Adding a 4-email welcome series against your current list size, at DTC benchmark rates, is typically one of the highest-return single builds available — actual number depends on list size and AOV, which I don't have visibility into from the outside.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0360"/>
            <a:ext cx="11430000" cy="1463040"/>
          </a:xfrm>
          <a:prstGeom prst="rect">
            <a:avLst/>
          </a:prstGeom>
          <a:solidFill>
            <a:srgbClr val="10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880360"/>
            <a:ext cx="73152" cy="14630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5C"/>
                </a:solidFill>
                <a:latin typeface="Outfit"/>
              </a:rPr>
              <a:t>ILLUSTRATIVE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D4C9"/>
                </a:solidFill>
                <a:latin typeface="Outfit"/>
              </a:rPr>
              <a:t>Fixing the cart discount escalation (flat offer instead of 10%-&gt;20%) typically protects margin without a meaningful drop in recovered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26280"/>
            <a:ext cx="11430000" cy="1463040"/>
          </a:xfrm>
          <a:prstGeom prst="rect">
            <a:avLst/>
          </a:prstGeom>
          <a:solidFill>
            <a:srgbClr val="10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526280"/>
            <a:ext cx="73152" cy="14630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5C"/>
                </a:solidFill>
                <a:latin typeface="Outfit"/>
              </a:rPr>
              <a:t>ILLUSTRATIVE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83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D4C9"/>
                </a:solidFill>
                <a:latin typeface="Outfit"/>
              </a:rPr>
              <a:t>Browse abandonment is usually a smaller but pure-incremental line — it's reaching browsers no other flow currently touches.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0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5C"/>
                </a:solidFill>
                <a:latin typeface="Outfit"/>
              </a:rPr>
              <a:t>HOW I'D APPROACH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ormorant Garamond"/>
              </a:rPr>
              <a:t>Two Ways to Work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640080"/>
          </a:xfrm>
          <a:prstGeom prst="rect">
            <a:avLst/>
          </a:prstGeom>
          <a:solidFill>
            <a:srgbClr val="9B7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rmorant Garamond"/>
              </a:rPr>
              <a:t>Fixed-fee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Outfit"/>
              </a:rPr>
              <a:t>2-week segmentation + flow rebuild covering welcome and cart discount fix. Fastest path to seeing results before any ongoing commitment.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640080"/>
          </a:xfrm>
          <a:prstGeom prst="rect">
            <a:avLst/>
          </a:prstGeom>
          <a:solidFill>
            <a:srgbClr val="9B7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98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rmorant Garamond"/>
              </a:rPr>
              <a:t>Monthly retainer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Outfit"/>
              </a:rPr>
              <a:t>Ongoing flow + campaign management once the foundation is fixed — scoped after the sprint based on what's working.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5C"/>
                </a:solidFill>
                <a:latin typeface="Outfit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rmorant Garamond"/>
              </a:rPr>
              <a:t>Let's Talk It 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D4C9"/>
                </a:solidFill>
                <a:latin typeface="Outfit"/>
              </a:rPr>
              <a:t>No obligation — this is the audit, not a pitch. If it's useful, we can talk about what's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1">
                <a:solidFill>
                  <a:srgbClr val="C9A85C"/>
                </a:solidFill>
                <a:latin typeface="Cormorant Garamond"/>
              </a:rPr>
              <a:t>Jason A. Reis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D4C9"/>
                </a:solidFill>
                <a:latin typeface="Outfit"/>
              </a:rPr>
              <a:t>Lifecycle Marketing Consultant — CPG &amp; DTC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849A"/>
                </a:solidFill>
                <a:latin typeface="Outfit"/>
              </a:rPr>
              <a:t>jasonareis.com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